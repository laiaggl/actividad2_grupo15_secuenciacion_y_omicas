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7"/>
  </p:notesMasterIdLst>
  <p:sldIdLst>
    <p:sldId id="259" r:id="rId5"/>
    <p:sldId id="261" r:id="rId6"/>
  </p:sldIdLst>
  <p:sldSz cx="15119350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C25F445E-F499-4820-939C-DBEB34D78B05}">
          <p14:sldIdLst>
            <p14:sldId id="259"/>
          </p14:sldIdLst>
        </p14:section>
        <p14:section name="Definitvo (con lo de Carmen)" id="{09489C87-F248-405A-8226-832F766237C3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96C9"/>
    <a:srgbClr val="4CAAD4"/>
    <a:srgbClr val="59C2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C8549B-E79F-07E5-CAAA-B58039E25C74}" v="8" dt="2026-05-22T14:06:03.598"/>
    <p1510:client id="{5943FF7C-7372-D904-A71B-D51808E5C771}" v="66" dt="2026-05-23T08:00:37.158"/>
    <p1510:client id="{6AC5DC93-FAC7-0489-3134-5B5FAA106DE5}" v="87" dt="2026-05-23T07:43:37.754"/>
    <p1510:client id="{83EE772B-3981-9E72-6746-A2CC0E5D15A3}" v="33" dt="2026-05-22T14:17:37.292"/>
    <p1510:client id="{A0A3A4F9-3967-2B4D-6E58-3D4CAE76B4CD}" v="6" dt="2026-05-23T02:03:59.351"/>
    <p1510:client id="{AC601976-7CE0-077A-6DB0-CF5015E64E05}" v="16" dt="2026-05-23T08:32:48.580"/>
    <p1510:client id="{BF1FAEFC-2311-0413-4188-B72085F4948B}" v="26" dt="2026-05-22T14:01:09.956"/>
    <p1510:client id="{F6319032-B245-013D-50CE-0DE6B4F92C2C}" v="1" dt="2026-05-23T09:07:04.2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3156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D009C5-E56E-4CD8-A27D-0CCD23CD223B}" type="datetimeFigureOut">
              <a:t>5/23/2026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FA899F-9C19-45A7-A375-AE0637F02EC0}" type="slidenum"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1984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FF555-9A07-4922-AE8D-15A061A289D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276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3499590"/>
            <a:ext cx="12851448" cy="7444669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23/05/2026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9784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23/05/2026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91489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5331063"/>
            <a:ext cx="13040439" cy="8894992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14310205"/>
            <a:ext cx="13040439" cy="4677666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>
                    <a:tint val="82000"/>
                  </a:schemeClr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82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23/05/2026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98851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23/05/2026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21705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138485"/>
            <a:ext cx="13040439" cy="413317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5241960"/>
            <a:ext cx="63961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7810963"/>
            <a:ext cx="6396193" cy="1148875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5241960"/>
            <a:ext cx="64276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7810963"/>
            <a:ext cx="6427693" cy="1148875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23/05/2026</a:t>
            </a:fld>
            <a:endParaRPr lang="es-ES_trad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32023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23/05/2026</a:t>
            </a:fld>
            <a:endParaRPr lang="es-ES_trad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92796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23/05/2026</a:t>
            </a:fld>
            <a:endParaRPr lang="es-ES_trad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42561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3078850"/>
            <a:ext cx="7654171" cy="15196234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23/05/2026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48480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3078850"/>
            <a:ext cx="7654171" cy="15196234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23/05/2026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77565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23/05/2026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36129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1138480"/>
            <a:ext cx="3260110" cy="1812163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1138480"/>
            <a:ext cx="9591338" cy="1812163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23/05/2026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07249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DA1BBD-1589-104E-89D9-FD291A5EDB06}" type="datetimeFigureOut">
              <a:rPr lang="es-ES_tradnl" smtClean="0"/>
              <a:t>23/05/2026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2F3024-9AEF-C645-BE7A-258C41DDD14E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32535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511960" rtl="0" eaLnBrk="1" latinLnBrk="0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github.com/Laiaggl/ACTIVIDAD2_GRUPO15_Secuenciacion_y_Omicas.git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github.com/Laiaggl/ACTIVIDAD2_GRUPO15_Secuenciacion_y_Omicas.git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 flip="none" rotWithShape="1">
          <a:gsLst>
            <a:gs pos="14000">
              <a:schemeClr val="bg1"/>
            </a:gs>
            <a:gs pos="99000">
              <a:srgbClr val="59C2E3">
                <a:alpha val="25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7A72C3-DD61-5B61-E46F-EDD19D1F5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E1AA44F9-4D9B-B58B-32B6-5CC8410E7CBE}"/>
              </a:ext>
            </a:extLst>
          </p:cNvPr>
          <p:cNvGrpSpPr/>
          <p:nvPr/>
        </p:nvGrpSpPr>
        <p:grpSpPr>
          <a:xfrm>
            <a:off x="225180" y="3484254"/>
            <a:ext cx="14668990" cy="1504934"/>
            <a:chOff x="225180" y="3930299"/>
            <a:chExt cx="14668990" cy="1504934"/>
          </a:xfrm>
        </p:grpSpPr>
        <p:sp>
          <p:nvSpPr>
            <p:cNvPr id="8" name="Rectángulo redondeado 7">
              <a:extLst>
                <a:ext uri="{FF2B5EF4-FFF2-40B4-BE49-F238E27FC236}">
                  <a16:creationId xmlns:a16="http://schemas.microsoft.com/office/drawing/2014/main" id="{C4D1F524-44A5-F16E-9FD3-EE5EA5819EAD}"/>
                </a:ext>
              </a:extLst>
            </p:cNvPr>
            <p:cNvSpPr/>
            <p:nvPr/>
          </p:nvSpPr>
          <p:spPr>
            <a:xfrm>
              <a:off x="225180" y="4246822"/>
              <a:ext cx="14668990" cy="1188411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360000" rIns="91440" bIns="45720" rtlCol="0" anchor="t"/>
            <a:lstStyle/>
            <a:p>
              <a:pPr algn="just">
                <a:lnSpc>
                  <a:spcPct val="80000"/>
                </a:lnSpc>
              </a:pPr>
              <a:r>
                <a:rPr lang="es-ES_tradnl" i="1">
                  <a:solidFill>
                    <a:schemeClr val="tx1"/>
                  </a:solidFill>
                </a:rPr>
                <a:t>El objetivo de este estudio fue analizar la expresión diferencial de un conjunto de genes en dos grupos de sujetos ficticios catalogados según su perfil de obesidad, para identificar genes y rutas metabólicas que pudieran definir un perfil genético asociado a cada uno de los grupos de estudio. Para ello, se analizaron datos obtenidos de secuenciación de RNA-seq de cada uno de los individuos de estudio.</a:t>
              </a:r>
              <a:endParaRPr lang="es-ES_tradnl" sz="2400" i="1">
                <a:solidFill>
                  <a:schemeClr val="tx1"/>
                </a:solidFill>
              </a:endParaRPr>
            </a:p>
          </p:txBody>
        </p:sp>
        <p:sp>
          <p:nvSpPr>
            <p:cNvPr id="7" name="Rectángulo redondeado 6">
              <a:extLst>
                <a:ext uri="{FF2B5EF4-FFF2-40B4-BE49-F238E27FC236}">
                  <a16:creationId xmlns:a16="http://schemas.microsoft.com/office/drawing/2014/main" id="{15811AE5-F929-12ED-D44E-9D1519220278}"/>
                </a:ext>
              </a:extLst>
            </p:cNvPr>
            <p:cNvSpPr/>
            <p:nvPr/>
          </p:nvSpPr>
          <p:spPr>
            <a:xfrm>
              <a:off x="518258" y="393029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/>
                <a:t>INTRODUCCIÓN</a:t>
              </a:r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88FB225B-2F62-B172-D75B-E02EF3836A0E}"/>
              </a:ext>
            </a:extLst>
          </p:cNvPr>
          <p:cNvGrpSpPr/>
          <p:nvPr/>
        </p:nvGrpSpPr>
        <p:grpSpPr>
          <a:xfrm>
            <a:off x="207596" y="5169142"/>
            <a:ext cx="14668990" cy="1992925"/>
            <a:chOff x="207596" y="6110487"/>
            <a:chExt cx="14668990" cy="1992925"/>
          </a:xfrm>
        </p:grpSpPr>
        <p:sp>
          <p:nvSpPr>
            <p:cNvPr id="14" name="Rectángulo redondeado 13">
              <a:extLst>
                <a:ext uri="{FF2B5EF4-FFF2-40B4-BE49-F238E27FC236}">
                  <a16:creationId xmlns:a16="http://schemas.microsoft.com/office/drawing/2014/main" id="{FC179AD0-ED02-975F-E151-1E1C61EAD8F2}"/>
                </a:ext>
              </a:extLst>
            </p:cNvPr>
            <p:cNvSpPr/>
            <p:nvPr/>
          </p:nvSpPr>
          <p:spPr>
            <a:xfrm>
              <a:off x="207596" y="6427010"/>
              <a:ext cx="14668990" cy="1676402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360000" rIns="91440" bIns="45720" rtlCol="0" anchor="t"/>
            <a:lstStyle/>
            <a:p>
              <a:pPr algn="just">
                <a:lnSpc>
                  <a:spcPct val="80000"/>
                </a:lnSpc>
              </a:pPr>
              <a:r>
                <a:rPr lang="es-ES_tradnl" noProof="1">
                  <a:solidFill>
                    <a:schemeClr val="tx1"/>
                  </a:solidFill>
                  <a:ea typeface="+mn-lt"/>
                  <a:cs typeface="+mn-lt"/>
                </a:rPr>
                <a:t>Se analizaron un total de 5 muestras correspondientes a individuos clasificados en dos perfiles: Obesos 1 (n = 2) y Obesos 2 (n = 3).</a:t>
              </a:r>
              <a:r>
                <a:rPr lang="es-ES_tradnl" noProof="1">
                  <a:solidFill>
                    <a:schemeClr val="tx1"/>
                  </a:solidFill>
                </a:rPr>
                <a:t> </a:t>
              </a:r>
              <a:r>
                <a:rPr lang="es-ES_tradnl" i="1" noProof="1">
                  <a:solidFill>
                    <a:schemeClr val="tx1"/>
                  </a:solidFill>
                </a:rPr>
                <a:t>Se realizó un control de calidad y un filtrado de las secuencias de RNA-seq mediante FastQC y fastp, siendo evaluados con MultiQC. A partir de los datos filtrados obtenidos, se usó Salmon para hacer el pseudoalineamiento contra el transcriptoma de referencia y con estos resultados, se generó una matriz de conteo en R mediante tximport para llevar a cabo la normalización y el análisis de expresión diferencial mediante DESeq2, basado en una distribución binomial negativa y utilizando un valor de alpha = 1e-3. Finalmente, para contextualizar biológicamente los genes diferencialmente expresados, se realizó un análisis de enriquecimiento ORA utilizando identificadores ENTREZID con clusterProfiler y ReactomePA.</a:t>
              </a:r>
              <a:endParaRPr lang="es-ES_tradnl" sz="2400" i="1" noProof="1">
                <a:solidFill>
                  <a:schemeClr val="tx1"/>
                </a:solidFill>
              </a:endParaRPr>
            </a:p>
          </p:txBody>
        </p:sp>
        <p:sp>
          <p:nvSpPr>
            <p:cNvPr id="15" name="Rectángulo redondeado 14">
              <a:extLst>
                <a:ext uri="{FF2B5EF4-FFF2-40B4-BE49-F238E27FC236}">
                  <a16:creationId xmlns:a16="http://schemas.microsoft.com/office/drawing/2014/main" id="{51C45BDA-AC75-EE13-A211-698BB3CF2EDC}"/>
                </a:ext>
              </a:extLst>
            </p:cNvPr>
            <p:cNvSpPr/>
            <p:nvPr/>
          </p:nvSpPr>
          <p:spPr>
            <a:xfrm>
              <a:off x="500674" y="6110487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/>
                <a:t>METODOLOGÍA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0449220D-F047-A208-80A5-ECB282B1A62A}"/>
              </a:ext>
            </a:extLst>
          </p:cNvPr>
          <p:cNvGrpSpPr/>
          <p:nvPr/>
        </p:nvGrpSpPr>
        <p:grpSpPr>
          <a:xfrm>
            <a:off x="207596" y="7403408"/>
            <a:ext cx="14668990" cy="9782603"/>
            <a:chOff x="225180" y="8290675"/>
            <a:chExt cx="14668990" cy="9782603"/>
          </a:xfrm>
        </p:grpSpPr>
        <p:sp>
          <p:nvSpPr>
            <p:cNvPr id="16" name="Rectángulo redondeado 15">
              <a:extLst>
                <a:ext uri="{FF2B5EF4-FFF2-40B4-BE49-F238E27FC236}">
                  <a16:creationId xmlns:a16="http://schemas.microsoft.com/office/drawing/2014/main" id="{F757B5F2-E57A-7217-E1AA-4D7E21F42FA0}"/>
                </a:ext>
              </a:extLst>
            </p:cNvPr>
            <p:cNvSpPr/>
            <p:nvPr/>
          </p:nvSpPr>
          <p:spPr>
            <a:xfrm>
              <a:off x="225180" y="8607196"/>
              <a:ext cx="14668990" cy="9466082"/>
            </a:xfrm>
            <a:prstGeom prst="roundRect">
              <a:avLst>
                <a:gd name="adj" fmla="val 1988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360000" rIns="91440" bIns="45720" rtlCol="0" anchor="t"/>
            <a:lstStyle/>
            <a:p>
              <a:pPr algn="just">
                <a:lnSpc>
                  <a:spcPct val="80000"/>
                </a:lnSpc>
              </a:pPr>
              <a:endParaRPr lang="es-ES_tradnl" i="1">
                <a:solidFill>
                  <a:schemeClr val="tx1"/>
                </a:solidFill>
              </a:endParaRPr>
            </a:p>
          </p:txBody>
        </p:sp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D2CE81C2-DE7D-86C0-BE63-0B1C502B9BDA}"/>
                </a:ext>
              </a:extLst>
            </p:cNvPr>
            <p:cNvSpPr/>
            <p:nvPr/>
          </p:nvSpPr>
          <p:spPr>
            <a:xfrm>
              <a:off x="518258" y="8290675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/>
                <a:t>RESULTADOS</a:t>
              </a:r>
            </a:p>
          </p:txBody>
        </p:sp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id="{D59CAA55-5763-DE38-517F-B4583DC84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0767" y="-95516"/>
            <a:ext cx="2325820" cy="140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upo 17">
            <a:extLst>
              <a:ext uri="{FF2B5EF4-FFF2-40B4-BE49-F238E27FC236}">
                <a16:creationId xmlns:a16="http://schemas.microsoft.com/office/drawing/2014/main" id="{7943CC5D-1654-184E-A7EC-A76F98FA9E8B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-5895"/>
            <a:ext cx="3397496" cy="2303046"/>
            <a:chOff x="0" y="-5895"/>
            <a:chExt cx="4834200" cy="3276938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7E5760BA-D4D0-7C9E-76ED-065ED11398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-5895"/>
              <a:ext cx="4834200" cy="3276938"/>
            </a:xfrm>
            <a:prstGeom prst="rect">
              <a:avLst/>
            </a:prstGeom>
          </p:spPr>
        </p:pic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4D86C97A-A2AB-20A7-3EB2-1F46C5416136}"/>
                </a:ext>
              </a:extLst>
            </p:cNvPr>
            <p:cNvSpPr/>
            <p:nvPr/>
          </p:nvSpPr>
          <p:spPr>
            <a:xfrm>
              <a:off x="964642" y="1549130"/>
              <a:ext cx="2257529" cy="671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2C6C9477-586D-D4FB-ADEE-063D77B3A812}"/>
              </a:ext>
            </a:extLst>
          </p:cNvPr>
          <p:cNvGrpSpPr/>
          <p:nvPr/>
        </p:nvGrpSpPr>
        <p:grpSpPr>
          <a:xfrm>
            <a:off x="238769" y="17258880"/>
            <a:ext cx="9064627" cy="5189010"/>
            <a:chOff x="256354" y="17393308"/>
            <a:chExt cx="9064627" cy="5189010"/>
          </a:xfrm>
        </p:grpSpPr>
        <p:sp>
          <p:nvSpPr>
            <p:cNvPr id="34" name="Rectángulo redondeado 33">
              <a:extLst>
                <a:ext uri="{FF2B5EF4-FFF2-40B4-BE49-F238E27FC236}">
                  <a16:creationId xmlns:a16="http://schemas.microsoft.com/office/drawing/2014/main" id="{1B34C5B1-3A9B-391B-803D-711026F44639}"/>
                </a:ext>
              </a:extLst>
            </p:cNvPr>
            <p:cNvSpPr/>
            <p:nvPr/>
          </p:nvSpPr>
          <p:spPr>
            <a:xfrm>
              <a:off x="256354" y="17620211"/>
              <a:ext cx="9064627" cy="4962107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360000" rIns="91440" bIns="45720" rtlCol="0" anchor="t"/>
            <a:lstStyle/>
            <a:p>
              <a:pPr algn="just">
                <a:lnSpc>
                  <a:spcPct val="80000"/>
                </a:lnSpc>
              </a:pPr>
              <a:r>
                <a:rPr lang="es-ES_tradnl">
                  <a:solidFill>
                    <a:schemeClr val="tx1"/>
                  </a:solidFill>
                </a:rPr>
                <a:t>Abraham</a:t>
              </a:r>
              <a:r>
                <a:rPr lang="es-ES_tradnl">
                  <a:solidFill>
                    <a:schemeClr val="tx1"/>
                  </a:solidFill>
                  <a:ea typeface="+mn-lt"/>
                  <a:cs typeface="+mn-lt"/>
                </a:rPr>
                <a:t> y Homer presentaron una mayor expresión de genes relacionados con la vía leptina–melanocortina, como LEPR, POMC y PCSK1, mientras que Marge, Patty y Selma mostraron una sobreexpresión de genes asociados con predisposición genética a obesidad y regulación del apetito, como FTO y MC4R. Estos resultados sugieren la presencia de diferentes mecanismos moleculares asociados a la obesidad y evidencian que los patrones de expresión génica permiten distinguir grupos metabólicos con características biológicas específicas.</a:t>
              </a:r>
              <a:r>
                <a:rPr lang="es-ES_tradnl">
                  <a:solidFill>
                    <a:schemeClr val="tx1"/>
                  </a:solidFill>
                </a:rPr>
                <a:t> En ambos grupos está afectada la expresión de genes que median el control del apetito, la ingesta y las rutas de señalización moduladas por receptores de proteína G, todos involucrados en la vía </a:t>
              </a:r>
              <a:r>
                <a:rPr lang="es-ES_tradnl" b="1">
                  <a:solidFill>
                    <a:schemeClr val="tx1"/>
                  </a:solidFill>
                </a:rPr>
                <a:t>leptina-melanocortina</a:t>
              </a:r>
              <a:r>
                <a:rPr lang="es-ES_tradnl">
                  <a:solidFill>
                    <a:schemeClr val="tx1"/>
                  </a:solidFill>
                </a:rPr>
                <a:t>. Se han observado varios genes con niveles de expresión relevantes, pero 3 son de especial relevancia:</a:t>
              </a:r>
              <a:r>
                <a:rPr lang="es-ES_tradnl" b="1" i="1">
                  <a:solidFill>
                    <a:schemeClr val="tx1"/>
                  </a:solidFill>
                </a:rPr>
                <a:t> LEPR, MC4R y SIM1</a:t>
              </a:r>
              <a:r>
                <a:rPr lang="es-ES_tradnl">
                  <a:solidFill>
                    <a:schemeClr val="tx1"/>
                  </a:solidFill>
                </a:rPr>
                <a:t>. La expresión de </a:t>
              </a:r>
              <a:r>
                <a:rPr lang="es-ES_tradnl" b="1" i="1">
                  <a:solidFill>
                    <a:schemeClr val="tx1"/>
                  </a:solidFill>
                </a:rPr>
                <a:t>LEPR</a:t>
              </a:r>
              <a:r>
                <a:rPr lang="es-ES_tradnl" b="1">
                  <a:solidFill>
                    <a:schemeClr val="tx1"/>
                  </a:solidFill>
                </a:rPr>
                <a:t> está disminuida</a:t>
              </a:r>
              <a:r>
                <a:rPr lang="es-ES_tradnl">
                  <a:solidFill>
                    <a:schemeClr val="tx1"/>
                  </a:solidFill>
                </a:rPr>
                <a:t> en el grupo </a:t>
              </a:r>
              <a:r>
                <a:rPr lang="es-ES_tradnl" b="1">
                  <a:solidFill>
                    <a:schemeClr val="tx1"/>
                  </a:solidFill>
                </a:rPr>
                <a:t>Obesos2</a:t>
              </a:r>
              <a:r>
                <a:rPr lang="es-ES_tradnl">
                  <a:solidFill>
                    <a:schemeClr val="tx1"/>
                  </a:solidFill>
                </a:rPr>
                <a:t> y la de</a:t>
              </a:r>
              <a:r>
                <a:rPr lang="es-ES_tradnl" b="1" i="1">
                  <a:solidFill>
                    <a:schemeClr val="tx1"/>
                  </a:solidFill>
                </a:rPr>
                <a:t> MC4R y SIM1</a:t>
              </a:r>
              <a:r>
                <a:rPr lang="es-ES_tradnl">
                  <a:solidFill>
                    <a:schemeClr val="tx1"/>
                  </a:solidFill>
                </a:rPr>
                <a:t> en </a:t>
              </a:r>
              <a:r>
                <a:rPr lang="es-ES_tradnl" b="1">
                  <a:solidFill>
                    <a:schemeClr val="tx1"/>
                  </a:solidFill>
                </a:rPr>
                <a:t>Obesos1</a:t>
              </a:r>
              <a:r>
                <a:rPr lang="es-ES_tradnl">
                  <a:solidFill>
                    <a:schemeClr val="tx1"/>
                  </a:solidFill>
                </a:rPr>
                <a:t>.  En ambos casos producen el mismo resultado: No inhibición de apetito, no se favorece balance energético negativo y se favorece el desarrollo de la obesidad.</a:t>
              </a:r>
              <a:endParaRPr lang="es-ES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r>
                <a:rPr lang="es-ES_tradnl">
                  <a:solidFill>
                    <a:schemeClr val="tx1"/>
                  </a:solidFill>
                </a:rPr>
                <a:t>Los niveles de expresión de otros genes afectados como </a:t>
              </a:r>
              <a:r>
                <a:rPr lang="es-ES_tradnl" i="1">
                  <a:solidFill>
                    <a:schemeClr val="tx1"/>
                  </a:solidFill>
                </a:rPr>
                <a:t>POMC </a:t>
              </a:r>
              <a:r>
                <a:rPr lang="es-ES_tradnl">
                  <a:solidFill>
                    <a:schemeClr val="tx1"/>
                  </a:solidFill>
                </a:rPr>
                <a:t>que activa </a:t>
              </a:r>
              <a:r>
                <a:rPr lang="es-ES_tradnl" i="1">
                  <a:solidFill>
                    <a:schemeClr val="tx1"/>
                  </a:solidFill>
                </a:rPr>
                <a:t>MC4R</a:t>
              </a:r>
              <a:r>
                <a:rPr lang="es-ES_tradnl">
                  <a:solidFill>
                    <a:schemeClr val="tx1"/>
                  </a:solidFill>
                </a:rPr>
                <a:t> y se encuentra mucho más expresado en Obesos1 que en Obesos2 o</a:t>
              </a:r>
              <a:r>
                <a:rPr lang="es-ES_tradnl" i="1">
                  <a:solidFill>
                    <a:schemeClr val="tx1"/>
                  </a:solidFill>
                </a:rPr>
                <a:t> FTO</a:t>
              </a:r>
              <a:r>
                <a:rPr lang="es-ES_tradnl">
                  <a:solidFill>
                    <a:schemeClr val="tx1"/>
                  </a:solidFill>
                </a:rPr>
                <a:t>, que favorece resistencia a leptina y está más expresado en Obesos2 que en Obesos1 parecen indicar que Obesos1 está afectado a nivel de señalización intercelular y Obesos 2 a nivel de detección de leptina.</a:t>
              </a:r>
            </a:p>
            <a:p>
              <a:pPr algn="just">
                <a:lnSpc>
                  <a:spcPct val="80000"/>
                </a:lnSpc>
              </a:pPr>
              <a:endParaRPr lang="es-ES_tradnl"/>
            </a:p>
          </p:txBody>
        </p:sp>
        <p:sp>
          <p:nvSpPr>
            <p:cNvPr id="35" name="Rectángulo redondeado 34">
              <a:extLst>
                <a:ext uri="{FF2B5EF4-FFF2-40B4-BE49-F238E27FC236}">
                  <a16:creationId xmlns:a16="http://schemas.microsoft.com/office/drawing/2014/main" id="{3BC039B6-C9D2-02F3-8F27-C85043A7CC84}"/>
                </a:ext>
              </a:extLst>
            </p:cNvPr>
            <p:cNvSpPr/>
            <p:nvPr/>
          </p:nvSpPr>
          <p:spPr>
            <a:xfrm>
              <a:off x="518258" y="17393308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/>
                <a:t>DISCUSIÓN</a:t>
              </a:r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7CDA7380-1384-C476-FC20-7A4A09E7B7FE}"/>
              </a:ext>
            </a:extLst>
          </p:cNvPr>
          <p:cNvGrpSpPr/>
          <p:nvPr/>
        </p:nvGrpSpPr>
        <p:grpSpPr>
          <a:xfrm>
            <a:off x="9600592" y="17303689"/>
            <a:ext cx="5338185" cy="3844742"/>
            <a:chOff x="7822646" y="17303689"/>
            <a:chExt cx="7071524" cy="3844742"/>
          </a:xfrm>
        </p:grpSpPr>
        <p:sp>
          <p:nvSpPr>
            <p:cNvPr id="37" name="Rectángulo redondeado 36">
              <a:extLst>
                <a:ext uri="{FF2B5EF4-FFF2-40B4-BE49-F238E27FC236}">
                  <a16:creationId xmlns:a16="http://schemas.microsoft.com/office/drawing/2014/main" id="{367F38DE-6476-4ED5-51AD-7070BD6A603F}"/>
                </a:ext>
              </a:extLst>
            </p:cNvPr>
            <p:cNvSpPr/>
            <p:nvPr/>
          </p:nvSpPr>
          <p:spPr>
            <a:xfrm>
              <a:off x="7822646" y="17534563"/>
              <a:ext cx="7071524" cy="3613868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360000" rIns="91440" bIns="45720" rtlCol="0" anchor="t"/>
            <a:lstStyle/>
            <a:p>
              <a:pPr algn="just"/>
              <a:r>
                <a:rPr lang="es-ES">
                  <a:solidFill>
                    <a:schemeClr val="tx1"/>
                  </a:solidFill>
                </a:rPr>
                <a:t>Ambos grupos presentan disminución en expresión de genes involucrados en señalización de mecanismos de saciedad haciendo que en ambos casos no funcionen correctamente, y favorezca  desarrollo de  obesidad.</a:t>
              </a:r>
            </a:p>
            <a:p>
              <a:pPr algn="just"/>
              <a:r>
                <a:rPr lang="es-ES">
                  <a:solidFill>
                    <a:schemeClr val="tx1"/>
                  </a:solidFill>
                </a:rPr>
                <a:t>Existen varias limitaciones experimentales como bajo número de sujetos de estudio, grupos de demografías opuestas y que las vías afectadas parecen ser las mismas, pero a distintos niveles. A futuro se debería mejorar el diseño experimental y obtener resultados más representativos.</a:t>
              </a:r>
            </a:p>
            <a:p>
              <a:pPr algn="just">
                <a:lnSpc>
                  <a:spcPct val="80000"/>
                </a:lnSpc>
              </a:pPr>
              <a:endParaRPr lang="es-ES">
                <a:solidFill>
                  <a:schemeClr val="tx1"/>
                </a:solidFill>
              </a:endParaRPr>
            </a:p>
            <a:p>
              <a:pPr algn="just"/>
              <a:endParaRPr lang="es-ES_tradnl">
                <a:solidFill>
                  <a:schemeClr val="tx1"/>
                </a:solidFill>
              </a:endParaRPr>
            </a:p>
          </p:txBody>
        </p:sp>
        <p:sp>
          <p:nvSpPr>
            <p:cNvPr id="38" name="Rectángulo redondeado 37">
              <a:extLst>
                <a:ext uri="{FF2B5EF4-FFF2-40B4-BE49-F238E27FC236}">
                  <a16:creationId xmlns:a16="http://schemas.microsoft.com/office/drawing/2014/main" id="{0757AA33-190F-8E74-0CAC-D7C442BACE75}"/>
                </a:ext>
              </a:extLst>
            </p:cNvPr>
            <p:cNvSpPr/>
            <p:nvPr/>
          </p:nvSpPr>
          <p:spPr>
            <a:xfrm>
              <a:off x="8077933" y="1730368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/>
                <a:t>CONCLUSIONES</a:t>
              </a:r>
            </a:p>
          </p:txBody>
        </p:sp>
      </p:grp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4DFEDABE-4D80-A61B-018C-77710B94E59D}"/>
              </a:ext>
            </a:extLst>
          </p:cNvPr>
          <p:cNvSpPr/>
          <p:nvPr/>
        </p:nvSpPr>
        <p:spPr>
          <a:xfrm>
            <a:off x="539506" y="12141557"/>
            <a:ext cx="6562695" cy="721762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/>
            </a:pPr>
            <a:r>
              <a:rPr lang="es-ES_tradnl" b="1">
                <a:solidFill>
                  <a:srgbClr val="4196C9"/>
                </a:solidFill>
              </a:rPr>
              <a:t>Figura 2. </a:t>
            </a:r>
            <a:r>
              <a:rPr lang="es-ES_tradnl">
                <a:solidFill>
                  <a:prstClr val="black"/>
                </a:solidFill>
              </a:rPr>
              <a:t>Heatmap de expresión génica por perfil seleccionando los 10 genes más significativos.</a:t>
            </a:r>
          </a:p>
        </p:txBody>
      </p:sp>
      <p:sp>
        <p:nvSpPr>
          <p:cNvPr id="25" name="Rectángulo redondeado 24">
            <a:extLst>
              <a:ext uri="{FF2B5EF4-FFF2-40B4-BE49-F238E27FC236}">
                <a16:creationId xmlns:a16="http://schemas.microsoft.com/office/drawing/2014/main" id="{0C85398E-D2B4-307B-30DE-73EFE253BA2F}"/>
              </a:ext>
            </a:extLst>
          </p:cNvPr>
          <p:cNvSpPr/>
          <p:nvPr/>
        </p:nvSpPr>
        <p:spPr>
          <a:xfrm>
            <a:off x="539424" y="8253515"/>
            <a:ext cx="6525453" cy="46098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1" i="0" u="none" strike="noStrike" kern="1200" cap="none" spc="0" normalizeH="0" baseline="0" noProof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Figura 1. </a:t>
            </a:r>
            <a:r>
              <a:rPr kumimoji="0" lang="es-ES_tradnl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Volcano</a:t>
            </a:r>
            <a:r>
              <a:rPr kumimoji="0" lang="es-ES_trad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s-ES_tradnl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plot</a:t>
            </a:r>
            <a:r>
              <a:rPr kumimoji="0" lang="es-ES_trad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de genes diferencialmente expresados.</a:t>
            </a:r>
          </a:p>
        </p:txBody>
      </p:sp>
      <p:sp>
        <p:nvSpPr>
          <p:cNvPr id="26" name="Rectángulo redondeado 25">
            <a:extLst>
              <a:ext uri="{FF2B5EF4-FFF2-40B4-BE49-F238E27FC236}">
                <a16:creationId xmlns:a16="http://schemas.microsoft.com/office/drawing/2014/main" id="{0A839ED5-5820-23B2-CF77-AEAE40AF5514}"/>
              </a:ext>
            </a:extLst>
          </p:cNvPr>
          <p:cNvSpPr/>
          <p:nvPr/>
        </p:nvSpPr>
        <p:spPr>
          <a:xfrm>
            <a:off x="7848400" y="8251012"/>
            <a:ext cx="6692011" cy="42623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s-ES_tradnl" b="1">
                <a:solidFill>
                  <a:srgbClr val="4196C9"/>
                </a:solidFill>
              </a:rPr>
              <a:t>Figura 3. </a:t>
            </a:r>
            <a:r>
              <a:rPr lang="es-ES_tradnl">
                <a:solidFill>
                  <a:prstClr val="black"/>
                </a:solidFill>
              </a:rPr>
              <a:t>Dot </a:t>
            </a:r>
            <a:r>
              <a:rPr lang="es-ES_tradnl" err="1">
                <a:solidFill>
                  <a:prstClr val="black"/>
                </a:solidFill>
              </a:rPr>
              <a:t>plot</a:t>
            </a:r>
            <a:r>
              <a:rPr lang="es-ES_tradnl">
                <a:solidFill>
                  <a:prstClr val="black"/>
                </a:solidFill>
              </a:rPr>
              <a:t> de enriquecimiento funcional (ORA). </a:t>
            </a:r>
          </a:p>
        </p:txBody>
      </p:sp>
      <p:sp>
        <p:nvSpPr>
          <p:cNvPr id="11" name="Rectángulo redondeado 2">
            <a:extLst>
              <a:ext uri="{FF2B5EF4-FFF2-40B4-BE49-F238E27FC236}">
                <a16:creationId xmlns:a16="http://schemas.microsoft.com/office/drawing/2014/main" id="{9C009F1A-59F8-F8E9-8E6D-06FAF492897A}"/>
              </a:ext>
            </a:extLst>
          </p:cNvPr>
          <p:cNvSpPr/>
          <p:nvPr/>
        </p:nvSpPr>
        <p:spPr>
          <a:xfrm>
            <a:off x="551504" y="1320342"/>
            <a:ext cx="12011882" cy="1969996"/>
          </a:xfrm>
          <a:prstGeom prst="roundRect">
            <a:avLst>
              <a:gd name="adj" fmla="val 9702"/>
            </a:avLst>
          </a:prstGeom>
          <a:solidFill>
            <a:srgbClr val="4196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1440" bIns="45720" rtlCol="0" anchor="ctr"/>
          <a:lstStyle/>
          <a:p>
            <a:pPr algn="ctr"/>
            <a:r>
              <a:rPr lang="es-ES_tradnl" sz="4000" b="1">
                <a:solidFill>
                  <a:schemeClr val="bg1"/>
                </a:solidFill>
              </a:rPr>
              <a:t>Expresión diferencial de genes relacionados con obesidad</a:t>
            </a:r>
            <a:endParaRPr lang="es-ES">
              <a:solidFill>
                <a:schemeClr val="bg1"/>
              </a:solidFill>
            </a:endParaRPr>
          </a:p>
          <a:p>
            <a:pPr algn="ctr">
              <a:lnSpc>
                <a:spcPct val="80000"/>
              </a:lnSpc>
            </a:pPr>
            <a:r>
              <a:rPr lang="es-ES_tradnl" sz="2800" b="1" i="1">
                <a:solidFill>
                  <a:schemeClr val="bg1"/>
                </a:solidFill>
              </a:rPr>
              <a:t>Secuenciación y Ómicas de Próxima Generación</a:t>
            </a:r>
            <a:endParaRPr lang="es-ES_tradnl" sz="3600" b="1" i="1">
              <a:solidFill>
                <a:schemeClr val="bg1"/>
              </a:solidFill>
            </a:endParaRPr>
          </a:p>
          <a:p>
            <a:pPr algn="ctr">
              <a:lnSpc>
                <a:spcPct val="80000"/>
              </a:lnSpc>
            </a:pPr>
            <a:r>
              <a:rPr lang="es-ES_tradnl" sz="2000">
                <a:solidFill>
                  <a:schemeClr val="bg1"/>
                </a:solidFill>
                <a:ea typeface="+mn-lt"/>
                <a:cs typeface="+mn-lt"/>
              </a:rPr>
              <a:t>Chuan López Ariño, Daniel Da Silva Resende , Laia Gongxiu Grasas León, Miguel Javier Gomez Marin, Sara Del Pino Martinez,  Carmen Delia De la Nuez Ramirez, Melany Pamela Pineda Garcia</a:t>
            </a:r>
            <a:endParaRPr lang="es-ES_tradnl">
              <a:solidFill>
                <a:schemeClr val="bg1"/>
              </a:solidFill>
            </a:endParaRPr>
          </a:p>
        </p:txBody>
      </p:sp>
      <p:pic>
        <p:nvPicPr>
          <p:cNvPr id="19" name="Picture 19" descr="A qr code on a blue background&#10;&#10;AI-generated content may be incorrect.">
            <a:hlinkClick r:id="rId4"/>
            <a:extLst>
              <a:ext uri="{FF2B5EF4-FFF2-40B4-BE49-F238E27FC236}">
                <a16:creationId xmlns:a16="http://schemas.microsoft.com/office/drawing/2014/main" id="{A793C3DD-7954-9094-6E5D-F684B338C6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73577" y="1307942"/>
            <a:ext cx="1913999" cy="19811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23" name="Imagen 22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47D205C0-4B01-3AA5-16C9-F53F296596D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9684" r="-735" b="5839"/>
          <a:stretch>
            <a:fillRect/>
          </a:stretch>
        </p:blipFill>
        <p:spPr>
          <a:xfrm>
            <a:off x="1196065" y="8776550"/>
            <a:ext cx="5130474" cy="3260716"/>
          </a:xfrm>
          <a:prstGeom prst="rect">
            <a:avLst/>
          </a:prstGeom>
        </p:spPr>
      </p:pic>
      <p:pic>
        <p:nvPicPr>
          <p:cNvPr id="27" name="Imagen 26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5F9231D5-D2A7-FB31-AD35-6DBD0E9F9A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765" y="12962577"/>
            <a:ext cx="6024020" cy="4211777"/>
          </a:xfrm>
          <a:prstGeom prst="rect">
            <a:avLst/>
          </a:prstGeom>
        </p:spPr>
      </p:pic>
      <p:pic>
        <p:nvPicPr>
          <p:cNvPr id="22" name="Picture 21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D59C9111-575B-A71D-7B88-7385F848AF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7874" y="8779969"/>
            <a:ext cx="7686148" cy="811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942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4000">
              <a:schemeClr val="bg1"/>
            </a:gs>
            <a:gs pos="99000">
              <a:srgbClr val="59C2E3">
                <a:alpha val="25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7A72C3-DD61-5B61-E46F-EDD19D1F5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E1AA44F9-4D9B-B58B-32B6-5CC8410E7CBE}"/>
              </a:ext>
            </a:extLst>
          </p:cNvPr>
          <p:cNvGrpSpPr/>
          <p:nvPr/>
        </p:nvGrpSpPr>
        <p:grpSpPr>
          <a:xfrm>
            <a:off x="225180" y="3484254"/>
            <a:ext cx="14668990" cy="1504934"/>
            <a:chOff x="225180" y="3930299"/>
            <a:chExt cx="14668990" cy="1504934"/>
          </a:xfrm>
        </p:grpSpPr>
        <p:sp>
          <p:nvSpPr>
            <p:cNvPr id="8" name="Rectángulo redondeado 7">
              <a:extLst>
                <a:ext uri="{FF2B5EF4-FFF2-40B4-BE49-F238E27FC236}">
                  <a16:creationId xmlns:a16="http://schemas.microsoft.com/office/drawing/2014/main" id="{C4D1F524-44A5-F16E-9FD3-EE5EA5819EAD}"/>
                </a:ext>
              </a:extLst>
            </p:cNvPr>
            <p:cNvSpPr/>
            <p:nvPr/>
          </p:nvSpPr>
          <p:spPr>
            <a:xfrm>
              <a:off x="225180" y="4246822"/>
              <a:ext cx="14668990" cy="1188411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360000" rIns="91440" bIns="45720" rtlCol="0" anchor="t"/>
            <a:lstStyle/>
            <a:p>
              <a:pPr algn="just">
                <a:lnSpc>
                  <a:spcPct val="80000"/>
                </a:lnSpc>
              </a:pPr>
              <a:r>
                <a:rPr lang="es-ES_tradnl" i="1">
                  <a:solidFill>
                    <a:schemeClr val="tx1"/>
                  </a:solidFill>
                </a:rPr>
                <a:t>El objetivo de este estudio fue analizar la expresión diferencial de un conjunto de genes en dos grupos de sujetos ficticios catalogados según su perfil de obesidad, para identificar genes y rutas metabólicas que pudieran definir un perfil genético asociado a cada uno de los grupos de estudio. Para ello, se analizaron datos obtenidos de secuenciación de RNA-seq de cada uno de los individuos de estudio.</a:t>
              </a:r>
              <a:endParaRPr lang="es-ES_tradnl" sz="2400" i="1">
                <a:solidFill>
                  <a:schemeClr val="tx1"/>
                </a:solidFill>
              </a:endParaRPr>
            </a:p>
          </p:txBody>
        </p:sp>
        <p:sp>
          <p:nvSpPr>
            <p:cNvPr id="7" name="Rectángulo redondeado 6">
              <a:extLst>
                <a:ext uri="{FF2B5EF4-FFF2-40B4-BE49-F238E27FC236}">
                  <a16:creationId xmlns:a16="http://schemas.microsoft.com/office/drawing/2014/main" id="{15811AE5-F929-12ED-D44E-9D1519220278}"/>
                </a:ext>
              </a:extLst>
            </p:cNvPr>
            <p:cNvSpPr/>
            <p:nvPr/>
          </p:nvSpPr>
          <p:spPr>
            <a:xfrm>
              <a:off x="518258" y="393029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/>
                <a:t>INTRODUCCIÓN</a:t>
              </a:r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88FB225B-2F62-B172-D75B-E02EF3836A0E}"/>
              </a:ext>
            </a:extLst>
          </p:cNvPr>
          <p:cNvGrpSpPr/>
          <p:nvPr/>
        </p:nvGrpSpPr>
        <p:grpSpPr>
          <a:xfrm>
            <a:off x="207596" y="5169142"/>
            <a:ext cx="14668990" cy="1992925"/>
            <a:chOff x="207596" y="6110487"/>
            <a:chExt cx="14668990" cy="1992925"/>
          </a:xfrm>
        </p:grpSpPr>
        <p:sp>
          <p:nvSpPr>
            <p:cNvPr id="14" name="Rectángulo redondeado 13">
              <a:extLst>
                <a:ext uri="{FF2B5EF4-FFF2-40B4-BE49-F238E27FC236}">
                  <a16:creationId xmlns:a16="http://schemas.microsoft.com/office/drawing/2014/main" id="{FC179AD0-ED02-975F-E151-1E1C61EAD8F2}"/>
                </a:ext>
              </a:extLst>
            </p:cNvPr>
            <p:cNvSpPr/>
            <p:nvPr/>
          </p:nvSpPr>
          <p:spPr>
            <a:xfrm>
              <a:off x="207596" y="6427010"/>
              <a:ext cx="14668990" cy="1676402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360000" rIns="91440" bIns="45720" rtlCol="0" anchor="t"/>
            <a:lstStyle/>
            <a:p>
              <a:pPr algn="just">
                <a:lnSpc>
                  <a:spcPct val="80000"/>
                </a:lnSpc>
              </a:pPr>
              <a:r>
                <a:rPr lang="es-ES_tradnl" noProof="1">
                  <a:solidFill>
                    <a:schemeClr val="tx1"/>
                  </a:solidFill>
                  <a:ea typeface="+mn-lt"/>
                  <a:cs typeface="+mn-lt"/>
                </a:rPr>
                <a:t>Se analizaron un total de 5 muestras correspondientes a individuos clasificados en dos perfiles: Obesos 1 (n = 2) y Obesos 2 (n = 3).</a:t>
              </a:r>
              <a:r>
                <a:rPr lang="es-ES_tradnl" noProof="1">
                  <a:solidFill>
                    <a:schemeClr val="tx1"/>
                  </a:solidFill>
                </a:rPr>
                <a:t> </a:t>
              </a:r>
              <a:r>
                <a:rPr lang="es-ES_tradnl" i="1" noProof="1">
                  <a:solidFill>
                    <a:schemeClr val="tx1"/>
                  </a:solidFill>
                </a:rPr>
                <a:t>Se realizó un control de calidad y un filtrado de las secuencias de RNA-seq mediante FastQC y fastp, siendo evaluados con MultiQC. A partir de los datos filtrados obtenidos, se usó Salmon para hacer el pseudoalineamiento contra el transcriptoma de referencia y con estos resultados, se generó una matriz de conteo en R mediante tximport para llevar a cabo la normalización y el análisis de expresión diferencial mediante DESeq2, basado en una distribución binomial negativa y utilizando un valor de alpha = 1e-3. Finalmente, para contextualizar biológicamente los genes diferencialmente expresados, se realizó un análisis de enriquecimiento ORA utilizando identificadores ENTREZID con clusterProfiler y ReactomePA.</a:t>
              </a:r>
              <a:endParaRPr lang="es-ES_tradnl" sz="2400" i="1" noProof="1">
                <a:solidFill>
                  <a:schemeClr val="tx1"/>
                </a:solidFill>
              </a:endParaRPr>
            </a:p>
          </p:txBody>
        </p:sp>
        <p:sp>
          <p:nvSpPr>
            <p:cNvPr id="15" name="Rectángulo redondeado 14">
              <a:extLst>
                <a:ext uri="{FF2B5EF4-FFF2-40B4-BE49-F238E27FC236}">
                  <a16:creationId xmlns:a16="http://schemas.microsoft.com/office/drawing/2014/main" id="{51C45BDA-AC75-EE13-A211-698BB3CF2EDC}"/>
                </a:ext>
              </a:extLst>
            </p:cNvPr>
            <p:cNvSpPr/>
            <p:nvPr/>
          </p:nvSpPr>
          <p:spPr>
            <a:xfrm>
              <a:off x="500674" y="6110487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/>
                <a:t>METODOLOGÍA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0449220D-F047-A208-80A5-ECB282B1A62A}"/>
              </a:ext>
            </a:extLst>
          </p:cNvPr>
          <p:cNvGrpSpPr/>
          <p:nvPr/>
        </p:nvGrpSpPr>
        <p:grpSpPr>
          <a:xfrm>
            <a:off x="207596" y="7403408"/>
            <a:ext cx="14668990" cy="9782603"/>
            <a:chOff x="225180" y="8290675"/>
            <a:chExt cx="14668990" cy="9782603"/>
          </a:xfrm>
        </p:grpSpPr>
        <p:sp>
          <p:nvSpPr>
            <p:cNvPr id="16" name="Rectángulo redondeado 15">
              <a:extLst>
                <a:ext uri="{FF2B5EF4-FFF2-40B4-BE49-F238E27FC236}">
                  <a16:creationId xmlns:a16="http://schemas.microsoft.com/office/drawing/2014/main" id="{F757B5F2-E57A-7217-E1AA-4D7E21F42FA0}"/>
                </a:ext>
              </a:extLst>
            </p:cNvPr>
            <p:cNvSpPr/>
            <p:nvPr/>
          </p:nvSpPr>
          <p:spPr>
            <a:xfrm>
              <a:off x="225180" y="8607196"/>
              <a:ext cx="14668990" cy="9466082"/>
            </a:xfrm>
            <a:prstGeom prst="roundRect">
              <a:avLst>
                <a:gd name="adj" fmla="val 1988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360000" rIns="91440" bIns="45720" rtlCol="0" anchor="t"/>
            <a:lstStyle/>
            <a:p>
              <a:pPr algn="just">
                <a:lnSpc>
                  <a:spcPct val="80000"/>
                </a:lnSpc>
              </a:pPr>
              <a:endParaRPr lang="es-ES_tradnl" i="1">
                <a:solidFill>
                  <a:schemeClr val="tx1"/>
                </a:solidFill>
              </a:endParaRPr>
            </a:p>
          </p:txBody>
        </p:sp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D2CE81C2-DE7D-86C0-BE63-0B1C502B9BDA}"/>
                </a:ext>
              </a:extLst>
            </p:cNvPr>
            <p:cNvSpPr/>
            <p:nvPr/>
          </p:nvSpPr>
          <p:spPr>
            <a:xfrm>
              <a:off x="518258" y="8290675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/>
                <a:t>RESULTADOS</a:t>
              </a:r>
            </a:p>
          </p:txBody>
        </p:sp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id="{D59CAA55-5763-DE38-517F-B4583DC84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0767" y="-95516"/>
            <a:ext cx="2325820" cy="140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upo 17">
            <a:extLst>
              <a:ext uri="{FF2B5EF4-FFF2-40B4-BE49-F238E27FC236}">
                <a16:creationId xmlns:a16="http://schemas.microsoft.com/office/drawing/2014/main" id="{7943CC5D-1654-184E-A7EC-A76F98FA9E8B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-5895"/>
            <a:ext cx="3397496" cy="2303046"/>
            <a:chOff x="0" y="-5895"/>
            <a:chExt cx="4834200" cy="3276938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7E5760BA-D4D0-7C9E-76ED-065ED11398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-5895"/>
              <a:ext cx="4834200" cy="3276938"/>
            </a:xfrm>
            <a:prstGeom prst="rect">
              <a:avLst/>
            </a:prstGeom>
          </p:spPr>
        </p:pic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4D86C97A-A2AB-20A7-3EB2-1F46C5416136}"/>
                </a:ext>
              </a:extLst>
            </p:cNvPr>
            <p:cNvSpPr/>
            <p:nvPr/>
          </p:nvSpPr>
          <p:spPr>
            <a:xfrm>
              <a:off x="964642" y="1549130"/>
              <a:ext cx="2257529" cy="671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2C6C9477-586D-D4FB-ADEE-063D77B3A812}"/>
              </a:ext>
            </a:extLst>
          </p:cNvPr>
          <p:cNvGrpSpPr/>
          <p:nvPr/>
        </p:nvGrpSpPr>
        <p:grpSpPr>
          <a:xfrm>
            <a:off x="210314" y="17303660"/>
            <a:ext cx="9079493" cy="3893373"/>
            <a:chOff x="293062" y="17569497"/>
            <a:chExt cx="9064627" cy="4401350"/>
          </a:xfrm>
        </p:grpSpPr>
        <p:sp>
          <p:nvSpPr>
            <p:cNvPr id="34" name="Rectángulo redondeado 33">
              <a:extLst>
                <a:ext uri="{FF2B5EF4-FFF2-40B4-BE49-F238E27FC236}">
                  <a16:creationId xmlns:a16="http://schemas.microsoft.com/office/drawing/2014/main" id="{1B34C5B1-3A9B-391B-803D-711026F44639}"/>
                </a:ext>
              </a:extLst>
            </p:cNvPr>
            <p:cNvSpPr/>
            <p:nvPr/>
          </p:nvSpPr>
          <p:spPr>
            <a:xfrm>
              <a:off x="293062" y="17636961"/>
              <a:ext cx="9064627" cy="4333886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360000" rIns="91440" bIns="45720" rtlCol="0" anchor="t"/>
            <a:lstStyle/>
            <a:p>
              <a:pPr algn="just">
                <a:lnSpc>
                  <a:spcPct val="80000"/>
                </a:lnSpc>
              </a:pPr>
              <a:r>
                <a:rPr lang="es-ES_tradnl" i="1" dirty="0">
                  <a:solidFill>
                    <a:schemeClr val="tx1"/>
                  </a:solidFill>
                </a:rPr>
                <a:t>Abraham</a:t>
              </a:r>
              <a:r>
                <a:rPr lang="es-ES_tradnl" i="1" dirty="0">
                  <a:solidFill>
                    <a:schemeClr val="tx1"/>
                  </a:solidFill>
                  <a:ea typeface="+mn-lt"/>
                  <a:cs typeface="+mn-lt"/>
                </a:rPr>
                <a:t> y Homer presentaron una mayor expresión de genes relacionados con la vía </a:t>
              </a:r>
              <a:r>
                <a:rPr lang="es-ES_tradnl" b="1" i="1" dirty="0">
                  <a:solidFill>
                    <a:schemeClr val="tx1"/>
                  </a:solidFill>
                  <a:ea typeface="+mn-lt"/>
                  <a:cs typeface="+mn-lt"/>
                </a:rPr>
                <a:t>leptina–melanocortina (LEP-MC4R), </a:t>
              </a:r>
              <a:r>
                <a:rPr lang="es-ES_tradnl" i="1" dirty="0">
                  <a:solidFill>
                    <a:schemeClr val="tx1"/>
                  </a:solidFill>
                  <a:ea typeface="+mn-lt"/>
                  <a:cs typeface="+mn-lt"/>
                </a:rPr>
                <a:t>como LEPR, POMC y PCSK1, mientras que Marge, Patty y Selma mostraron una sobreexpresión de genes asociados con predisposición genética a obesidad y regulación del apetito, como FTO y MC4R. Esto sugiere la </a:t>
              </a:r>
              <a:r>
                <a:rPr lang="es-ES_tradnl" i="1">
                  <a:solidFill>
                    <a:schemeClr val="tx1"/>
                  </a:solidFill>
                  <a:ea typeface="+mn-lt"/>
                  <a:cs typeface="+mn-lt"/>
                </a:rPr>
                <a:t>afección de mecanismos moleculares asociados a la obesidad de entre los que los patrones de expresión génica permiten distinguir rutas metabólicas específicas.</a:t>
              </a:r>
              <a:r>
                <a:rPr lang="es-ES_tradnl" i="1">
                  <a:solidFill>
                    <a:schemeClr val="tx1"/>
                  </a:solidFill>
                </a:rPr>
                <a:t> En ambos grupos está afectada la expresión de genes que median el control del apetito, la ingesta y las rutas de señalización de receptores de proteína G. Entre otros, se han observado 3 genes con expresión relevante: </a:t>
              </a:r>
              <a:r>
                <a:rPr lang="es-ES_tradnl" b="1" i="1">
                  <a:solidFill>
                    <a:schemeClr val="tx1"/>
                  </a:solidFill>
                </a:rPr>
                <a:t>LEPR, MC4R y SIM1</a:t>
              </a:r>
              <a:r>
                <a:rPr lang="es-ES_tradnl" i="1">
                  <a:solidFill>
                    <a:schemeClr val="tx1"/>
                  </a:solidFill>
                </a:rPr>
                <a:t>. El primero, presenta </a:t>
              </a:r>
              <a:r>
                <a:rPr lang="es-ES_tradnl" b="1" i="1">
                  <a:solidFill>
                    <a:schemeClr val="tx1"/>
                  </a:solidFill>
                </a:rPr>
                <a:t>disminución </a:t>
              </a:r>
              <a:r>
                <a:rPr lang="es-ES_tradnl" i="1">
                  <a:solidFill>
                    <a:schemeClr val="tx1"/>
                  </a:solidFill>
                </a:rPr>
                <a:t>en el grupo </a:t>
              </a:r>
              <a:r>
                <a:rPr lang="es-ES_tradnl" b="1" i="1">
                  <a:solidFill>
                    <a:schemeClr val="tx1"/>
                  </a:solidFill>
                </a:rPr>
                <a:t>Obesos2</a:t>
              </a:r>
              <a:r>
                <a:rPr lang="es-ES_tradnl" i="1">
                  <a:solidFill>
                    <a:schemeClr val="tx1"/>
                  </a:solidFill>
                </a:rPr>
                <a:t> y el resto  en </a:t>
              </a:r>
              <a:r>
                <a:rPr lang="es-ES_tradnl" b="1" i="1">
                  <a:solidFill>
                    <a:schemeClr val="tx1"/>
                  </a:solidFill>
                </a:rPr>
                <a:t>Obesos1</a:t>
              </a:r>
              <a:r>
                <a:rPr lang="es-ES_tradnl" i="1">
                  <a:solidFill>
                    <a:schemeClr val="tx1"/>
                  </a:solidFill>
                </a:rPr>
                <a:t>.  En ambos,  producen el mismo resultado: No inhibición de apetito, no  se favorece balance energético negativo y favorece el desarrollo de la obesidad.</a:t>
              </a:r>
              <a:r>
                <a:rPr lang="es-ES" i="1" dirty="0">
                  <a:solidFill>
                    <a:schemeClr val="tx1"/>
                  </a:solidFill>
                </a:rPr>
                <a:t> La mayor expresión de POMC (activa MC4R) en Obesos1, y de FTO (asociado a resistencia a la leptina) en Obesos2, sugiere que el primer grupo presenta una alteración en la señalización intercelular, mientras que el segundo podría estar afectado a nivel de la detección de leptina.</a:t>
              </a:r>
              <a:endParaRPr lang="es-ES_tradnl" i="1" dirty="0">
                <a:solidFill>
                  <a:schemeClr val="tx1"/>
                </a:solidFill>
              </a:endParaRPr>
            </a:p>
          </p:txBody>
        </p:sp>
        <p:sp>
          <p:nvSpPr>
            <p:cNvPr id="35" name="Rectángulo redondeado 34">
              <a:extLst>
                <a:ext uri="{FF2B5EF4-FFF2-40B4-BE49-F238E27FC236}">
                  <a16:creationId xmlns:a16="http://schemas.microsoft.com/office/drawing/2014/main" id="{3BC039B6-C9D2-02F3-8F27-C85043A7CC84}"/>
                </a:ext>
              </a:extLst>
            </p:cNvPr>
            <p:cNvSpPr/>
            <p:nvPr/>
          </p:nvSpPr>
          <p:spPr>
            <a:xfrm>
              <a:off x="546332" y="17569497"/>
              <a:ext cx="5838092" cy="471538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/>
                <a:t>DISCUSIÓN</a:t>
              </a:r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7CDA7380-1384-C476-FC20-7A4A09E7B7FE}"/>
              </a:ext>
            </a:extLst>
          </p:cNvPr>
          <p:cNvGrpSpPr/>
          <p:nvPr/>
        </p:nvGrpSpPr>
        <p:grpSpPr>
          <a:xfrm>
            <a:off x="9600592" y="17303689"/>
            <a:ext cx="5338185" cy="3844742"/>
            <a:chOff x="7822646" y="17303689"/>
            <a:chExt cx="7071524" cy="3844742"/>
          </a:xfrm>
        </p:grpSpPr>
        <p:sp>
          <p:nvSpPr>
            <p:cNvPr id="37" name="Rectángulo redondeado 36">
              <a:extLst>
                <a:ext uri="{FF2B5EF4-FFF2-40B4-BE49-F238E27FC236}">
                  <a16:creationId xmlns:a16="http://schemas.microsoft.com/office/drawing/2014/main" id="{367F38DE-6476-4ED5-51AD-7070BD6A603F}"/>
                </a:ext>
              </a:extLst>
            </p:cNvPr>
            <p:cNvSpPr/>
            <p:nvPr/>
          </p:nvSpPr>
          <p:spPr>
            <a:xfrm>
              <a:off x="7822646" y="17534563"/>
              <a:ext cx="7071524" cy="3613868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360000" rIns="91440" bIns="45720" rtlCol="0" anchor="t"/>
            <a:lstStyle/>
            <a:p>
              <a:pPr algn="just"/>
              <a:r>
                <a:rPr lang="es-ES" i="1" dirty="0">
                  <a:solidFill>
                    <a:schemeClr val="tx1"/>
                  </a:solidFill>
                </a:rPr>
                <a:t>Ambos grupos presentan afectación en la expresión de genes involucrados en señalización de mecanismos de saciedad, favoreciendo en consecuencia, el  desarrollo de  obesidad.</a:t>
              </a:r>
            </a:p>
            <a:p>
              <a:pPr algn="just"/>
              <a:r>
                <a:rPr lang="es-ES" i="1" dirty="0">
                  <a:solidFill>
                    <a:schemeClr val="tx1"/>
                  </a:solidFill>
                </a:rPr>
                <a:t>Existen varias limitaciones experimentales como bajo número de sujetos de estudio, grupos de demografías opuestas y que las vías afectadas parecen ser las mismas, pero a distintos niveles. Un proceso de muestreo más riguroso sería necesario para poder establecer conclusiones más precisas y representativas de la población.</a:t>
              </a:r>
            </a:p>
            <a:p>
              <a:pPr algn="just"/>
              <a:endParaRPr lang="es-ES_tradnl" dirty="0">
                <a:solidFill>
                  <a:schemeClr val="tx1"/>
                </a:solidFill>
              </a:endParaRPr>
            </a:p>
          </p:txBody>
        </p:sp>
        <p:sp>
          <p:nvSpPr>
            <p:cNvPr id="38" name="Rectángulo redondeado 37">
              <a:extLst>
                <a:ext uri="{FF2B5EF4-FFF2-40B4-BE49-F238E27FC236}">
                  <a16:creationId xmlns:a16="http://schemas.microsoft.com/office/drawing/2014/main" id="{0757AA33-190F-8E74-0CAC-D7C442BACE75}"/>
                </a:ext>
              </a:extLst>
            </p:cNvPr>
            <p:cNvSpPr/>
            <p:nvPr/>
          </p:nvSpPr>
          <p:spPr>
            <a:xfrm>
              <a:off x="8077933" y="17303689"/>
              <a:ext cx="5838092" cy="471538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/>
                <a:t>CONCLUSIONES</a:t>
              </a:r>
            </a:p>
          </p:txBody>
        </p:sp>
      </p:grp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4DFEDABE-4D80-A61B-018C-77710B94E59D}"/>
              </a:ext>
            </a:extLst>
          </p:cNvPr>
          <p:cNvSpPr/>
          <p:nvPr/>
        </p:nvSpPr>
        <p:spPr>
          <a:xfrm>
            <a:off x="539506" y="12141557"/>
            <a:ext cx="6562695" cy="721762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/>
            </a:pPr>
            <a:r>
              <a:rPr lang="es-ES_tradnl" b="1">
                <a:solidFill>
                  <a:srgbClr val="4196C9"/>
                </a:solidFill>
              </a:rPr>
              <a:t>Figura 2. </a:t>
            </a:r>
            <a:r>
              <a:rPr lang="es-ES_tradnl">
                <a:solidFill>
                  <a:prstClr val="black"/>
                </a:solidFill>
              </a:rPr>
              <a:t>Heatmap de expresión génica por perfil seleccionando los 10 genes más significativos.</a:t>
            </a:r>
          </a:p>
        </p:txBody>
      </p:sp>
      <p:sp>
        <p:nvSpPr>
          <p:cNvPr id="25" name="Rectángulo redondeado 24">
            <a:extLst>
              <a:ext uri="{FF2B5EF4-FFF2-40B4-BE49-F238E27FC236}">
                <a16:creationId xmlns:a16="http://schemas.microsoft.com/office/drawing/2014/main" id="{0C85398E-D2B4-307B-30DE-73EFE253BA2F}"/>
              </a:ext>
            </a:extLst>
          </p:cNvPr>
          <p:cNvSpPr/>
          <p:nvPr/>
        </p:nvSpPr>
        <p:spPr>
          <a:xfrm>
            <a:off x="539424" y="8253515"/>
            <a:ext cx="6525453" cy="46098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1" i="0" u="none" strike="noStrike" kern="1200" cap="none" spc="0" normalizeH="0" baseline="0" noProof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Figura 1. </a:t>
            </a:r>
            <a:r>
              <a:rPr kumimoji="0" lang="es-ES_tradnl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Volcano</a:t>
            </a:r>
            <a:r>
              <a:rPr kumimoji="0" lang="es-ES_trad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s-ES_tradnl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plot</a:t>
            </a:r>
            <a:r>
              <a:rPr kumimoji="0" lang="es-ES_trad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de genes diferencialmente expresados.</a:t>
            </a:r>
          </a:p>
        </p:txBody>
      </p:sp>
      <p:sp>
        <p:nvSpPr>
          <p:cNvPr id="26" name="Rectángulo redondeado 25">
            <a:extLst>
              <a:ext uri="{FF2B5EF4-FFF2-40B4-BE49-F238E27FC236}">
                <a16:creationId xmlns:a16="http://schemas.microsoft.com/office/drawing/2014/main" id="{0A839ED5-5820-23B2-CF77-AEAE40AF5514}"/>
              </a:ext>
            </a:extLst>
          </p:cNvPr>
          <p:cNvSpPr/>
          <p:nvPr/>
        </p:nvSpPr>
        <p:spPr>
          <a:xfrm>
            <a:off x="7848400" y="8251012"/>
            <a:ext cx="6692011" cy="42623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s-ES_tradnl" b="1">
                <a:solidFill>
                  <a:srgbClr val="4196C9"/>
                </a:solidFill>
              </a:rPr>
              <a:t>Figura 3. </a:t>
            </a:r>
            <a:r>
              <a:rPr lang="es-ES_tradnl">
                <a:solidFill>
                  <a:prstClr val="black"/>
                </a:solidFill>
              </a:rPr>
              <a:t>Dot </a:t>
            </a:r>
            <a:r>
              <a:rPr lang="es-ES_tradnl" err="1">
                <a:solidFill>
                  <a:prstClr val="black"/>
                </a:solidFill>
              </a:rPr>
              <a:t>plot</a:t>
            </a:r>
            <a:r>
              <a:rPr lang="es-ES_tradnl">
                <a:solidFill>
                  <a:prstClr val="black"/>
                </a:solidFill>
              </a:rPr>
              <a:t> de enriquecimiento funcional (ORA). </a:t>
            </a:r>
          </a:p>
        </p:txBody>
      </p:sp>
      <p:sp>
        <p:nvSpPr>
          <p:cNvPr id="11" name="Rectángulo redondeado 2">
            <a:extLst>
              <a:ext uri="{FF2B5EF4-FFF2-40B4-BE49-F238E27FC236}">
                <a16:creationId xmlns:a16="http://schemas.microsoft.com/office/drawing/2014/main" id="{9C009F1A-59F8-F8E9-8E6D-06FAF492897A}"/>
              </a:ext>
            </a:extLst>
          </p:cNvPr>
          <p:cNvSpPr/>
          <p:nvPr/>
        </p:nvSpPr>
        <p:spPr>
          <a:xfrm>
            <a:off x="551504" y="1320342"/>
            <a:ext cx="12011882" cy="1969996"/>
          </a:xfrm>
          <a:prstGeom prst="roundRect">
            <a:avLst>
              <a:gd name="adj" fmla="val 9702"/>
            </a:avLst>
          </a:prstGeom>
          <a:solidFill>
            <a:srgbClr val="4196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1440" bIns="45720" rtlCol="0" anchor="ctr"/>
          <a:lstStyle/>
          <a:p>
            <a:pPr algn="ctr"/>
            <a:r>
              <a:rPr lang="es-ES_tradnl" sz="4000" b="1">
                <a:solidFill>
                  <a:schemeClr val="bg1"/>
                </a:solidFill>
              </a:rPr>
              <a:t>Expresión diferencial de genes relacionados con obesidad</a:t>
            </a:r>
            <a:endParaRPr lang="es-ES">
              <a:solidFill>
                <a:schemeClr val="bg1"/>
              </a:solidFill>
            </a:endParaRPr>
          </a:p>
          <a:p>
            <a:pPr algn="ctr">
              <a:lnSpc>
                <a:spcPct val="80000"/>
              </a:lnSpc>
            </a:pPr>
            <a:r>
              <a:rPr lang="es-ES_tradnl" sz="2800" b="1" i="1">
                <a:solidFill>
                  <a:schemeClr val="bg1"/>
                </a:solidFill>
              </a:rPr>
              <a:t>Secuenciación y Ómicas de Próxima Generación</a:t>
            </a:r>
            <a:endParaRPr lang="es-ES_tradnl" sz="3600" b="1" i="1">
              <a:solidFill>
                <a:schemeClr val="bg1"/>
              </a:solidFill>
            </a:endParaRPr>
          </a:p>
          <a:p>
            <a:pPr algn="ctr">
              <a:lnSpc>
                <a:spcPct val="80000"/>
              </a:lnSpc>
            </a:pPr>
            <a:r>
              <a:rPr lang="es-ES_tradnl" sz="2000">
                <a:solidFill>
                  <a:schemeClr val="bg1"/>
                </a:solidFill>
                <a:ea typeface="+mn-lt"/>
                <a:cs typeface="+mn-lt"/>
              </a:rPr>
              <a:t>Chuan López Ariño, Daniel Da Silva Resende , Laia Gongxiu Grasas León, Miguel Javier Gomez Marin, Sara Del Pino Martinez,  Carmen Delia De la Nuez Ramirez, Melany Pamela Pineda Garcia</a:t>
            </a:r>
            <a:endParaRPr lang="es-ES_tradnl">
              <a:solidFill>
                <a:schemeClr val="bg1"/>
              </a:solidFill>
            </a:endParaRPr>
          </a:p>
        </p:txBody>
      </p:sp>
      <p:pic>
        <p:nvPicPr>
          <p:cNvPr id="19" name="Picture 19" descr="A qr code on a blue background&#10;&#10;AI-generated content may be incorrect.">
            <a:hlinkClick r:id="rId5"/>
            <a:extLst>
              <a:ext uri="{FF2B5EF4-FFF2-40B4-BE49-F238E27FC236}">
                <a16:creationId xmlns:a16="http://schemas.microsoft.com/office/drawing/2014/main" id="{A793C3DD-7954-9094-6E5D-F684B338C6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73577" y="1307942"/>
            <a:ext cx="1913999" cy="19811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23" name="Imagen 22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47D205C0-4B01-3AA5-16C9-F53F296596D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9684" r="-735" b="5839"/>
          <a:stretch>
            <a:fillRect/>
          </a:stretch>
        </p:blipFill>
        <p:spPr>
          <a:xfrm>
            <a:off x="1196065" y="8776550"/>
            <a:ext cx="5130474" cy="3260716"/>
          </a:xfrm>
          <a:prstGeom prst="rect">
            <a:avLst/>
          </a:prstGeom>
        </p:spPr>
      </p:pic>
      <p:pic>
        <p:nvPicPr>
          <p:cNvPr id="27" name="Imagen 26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5F9231D5-D2A7-FB31-AD35-6DBD0E9F9A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765" y="12962577"/>
            <a:ext cx="6024020" cy="4211777"/>
          </a:xfrm>
          <a:prstGeom prst="rect">
            <a:avLst/>
          </a:prstGeom>
        </p:spPr>
      </p:pic>
      <p:pic>
        <p:nvPicPr>
          <p:cNvPr id="22" name="Picture 21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D59C9111-575B-A71D-7B88-7385F848AF7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37874" y="8779969"/>
            <a:ext cx="7686148" cy="811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8839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F3D7C797EA12745A270EF30E38719B9" ma:contentTypeVersion="20" ma:contentTypeDescription="Crear nuevo documento." ma:contentTypeScope="" ma:versionID="98b23ce13f8ef13134c980882a27b8cc">
  <xsd:schema xmlns:xsd="http://www.w3.org/2001/XMLSchema" xmlns:xs="http://www.w3.org/2001/XMLSchema" xmlns:p="http://schemas.microsoft.com/office/2006/metadata/properties" xmlns:ns2="0a70e875-3d35-4be2-921f-7117c31bab9b" xmlns:ns3="27c1adeb-3674-457c-b08c-8a73f31b6e23" targetNamespace="http://schemas.microsoft.com/office/2006/metadata/properties" ma:root="true" ma:fieldsID="83d50475b18a8f95f7f8edf1c6caa3f2" ns2:_="" ns3:_="">
    <xsd:import namespace="0a70e875-3d35-4be2-921f-7117c31bab9b"/>
    <xsd:import namespace="27c1adeb-3674-457c-b08c-8a73f31b6e2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_Flow_SignoffStatus" minOccurs="0"/>
                <xsd:element ref="ns3:MediaServiceObjectDetectorVersion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70e875-3d35-4be2-921f-7117c31bab9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7f67346-78c9-4c4d-b954-8d350fdf60db}" ma:internalName="TaxCatchAll" ma:showField="CatchAllData" ma:web="0a70e875-3d35-4be2-921f-7117c31bab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c1adeb-3674-457c-b08c-8a73f31b6e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17631b59-e624-4eb7-963c-219f14f88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5" nillable="true" ma:displayName="Estado de aprobación" ma:internalName="Estado_x0020_de_x0020_aprobaci_x00f3_n">
      <xsd:simpleType>
        <xsd:restriction base="dms:Text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27c1adeb-3674-457c-b08c-8a73f31b6e23" xsi:nil="true"/>
    <lcf76f155ced4ddcb4097134ff3c332f xmlns="27c1adeb-3674-457c-b08c-8a73f31b6e23">
      <Terms xmlns="http://schemas.microsoft.com/office/infopath/2007/PartnerControls"/>
    </lcf76f155ced4ddcb4097134ff3c332f>
    <TaxCatchAll xmlns="0a70e875-3d35-4be2-921f-7117c31bab9b" xsi:nil="true"/>
  </documentManagement>
</p:properties>
</file>

<file path=customXml/itemProps1.xml><?xml version="1.0" encoding="utf-8"?>
<ds:datastoreItem xmlns:ds="http://schemas.openxmlformats.org/officeDocument/2006/customXml" ds:itemID="{EA933766-0056-42DC-9416-E7C06BCFC09E}">
  <ds:schemaRefs>
    <ds:schemaRef ds:uri="0a70e875-3d35-4be2-921f-7117c31bab9b"/>
    <ds:schemaRef ds:uri="27c1adeb-3674-457c-b08c-8a73f31b6e2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3E95016-93A9-4903-BA02-7A05B5939C7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48B5577-5CCE-4E9D-BDFA-952900719EE2}">
  <ds:schemaRefs>
    <ds:schemaRef ds:uri="http://www.w3.org/XML/1998/namespace"/>
    <ds:schemaRef ds:uri="0a70e875-3d35-4be2-921f-7117c31bab9b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27c1adeb-3674-457c-b08c-8a73f31b6e23"/>
    <ds:schemaRef ds:uri="http://purl.org/dc/dcmitype/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0361ecad-3f61-4749-aa5c-87fde47ef9ad}" enabled="1" method="Privileged" siteId="{22c8b4a4-d926-43b2-bcc7-87b998590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1236</Words>
  <Application>Microsoft Office PowerPoint</Application>
  <PresentationFormat>Custom</PresentationFormat>
  <Paragraphs>34</Paragraphs>
  <Slides>2</Slides>
  <Notes>1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Tema de 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 de la O Pascual</dc:creator>
  <cp:lastModifiedBy>Chuan López Ariño</cp:lastModifiedBy>
  <cp:revision>106</cp:revision>
  <dcterms:created xsi:type="dcterms:W3CDTF">2025-04-21T10:03:24Z</dcterms:created>
  <dcterms:modified xsi:type="dcterms:W3CDTF">2026-05-23T09:35:44Z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0x010100DF3D7C797EA12745A270EF30E38719B9</vt:lpwstr>
  </property>
  <property fmtid="{D5CDD505-2E9C-101B-9397-08002B2CF9AE}" pid="3" name="MediaServiceImageTags">
    <vt:lpwstr/>
  </property>
</Properties>
</file>