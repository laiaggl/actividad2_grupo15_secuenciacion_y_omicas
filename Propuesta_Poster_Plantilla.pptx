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44"/>
    <p:restoredTop sz="94719"/>
  </p:normalViewPr>
  <p:slideViewPr>
    <p:cSldViewPr snapToGrid="0">
      <p:cViewPr>
        <p:scale>
          <a:sx n="54" d="100"/>
          <a:sy n="54" d="100"/>
        </p:scale>
        <p:origin x="4704"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21/5/26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Ómicas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dirty="0">
                  <a:solidFill>
                    <a:schemeClr val="tx1"/>
                  </a:solidFill>
                </a:rPr>
                <a:t>Este trabajo tiene como objetivo analizar perfiles de expresión génica asociados a obesidad mediante RNA-</a:t>
              </a:r>
              <a:r>
                <a:rPr lang="es-ES_tradnl" dirty="0" err="1">
                  <a:solidFill>
                    <a:schemeClr val="tx1"/>
                  </a:solidFill>
                </a:rPr>
                <a:t>seq</a:t>
              </a:r>
              <a:r>
                <a:rPr lang="es-ES_tradnl" dirty="0">
                  <a:solidFill>
                    <a:schemeClr val="tx1"/>
                  </a:solidFill>
                </a:rPr>
                <a:t> en muestras simuladas pertenecientes a personajes de la familia Simpson. El análisis </a:t>
              </a:r>
              <a:r>
                <a:rPr lang="es-ES_tradnl" dirty="0" err="1">
                  <a:solidFill>
                    <a:schemeClr val="tx1"/>
                  </a:solidFill>
                </a:rPr>
                <a:t>transcriptómico</a:t>
              </a:r>
              <a:r>
                <a:rPr lang="es-ES_tradnl" dirty="0">
                  <a:solidFill>
                    <a:schemeClr val="tx1"/>
                  </a:solidFill>
                </a:rPr>
                <a:t> permite identificar genes diferencialmente expresados que podrían actuar como posibles dianas terapéuticas implicadas en el desarrollo de esta patología </a:t>
              </a:r>
              <a:endParaRPr lang="es-ES_tradnl" sz="2400"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INTRODUCCIÓN</a:t>
              </a:r>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dirty="0">
                  <a:solidFill>
                    <a:schemeClr val="tx1"/>
                  </a:solidFill>
                </a:rPr>
                <a:t>Inicialmente se evaluó la calidad de las muestras mediante </a:t>
              </a:r>
              <a:r>
                <a:rPr lang="es-ES_tradnl" dirty="0" err="1">
                  <a:solidFill>
                    <a:schemeClr val="tx1"/>
                  </a:solidFill>
                </a:rPr>
                <a:t>FastQC</a:t>
              </a:r>
              <a:r>
                <a:rPr lang="es-ES_tradnl" dirty="0">
                  <a:solidFill>
                    <a:schemeClr val="tx1"/>
                  </a:solidFill>
                </a:rPr>
                <a:t> y se realizó un filtrado con </a:t>
              </a:r>
              <a:r>
                <a:rPr lang="es-ES_tradnl" dirty="0" err="1">
                  <a:solidFill>
                    <a:schemeClr val="tx1"/>
                  </a:solidFill>
                </a:rPr>
                <a:t>fastp</a:t>
              </a:r>
              <a:r>
                <a:rPr lang="es-ES_tradnl" dirty="0">
                  <a:solidFill>
                    <a:schemeClr val="tx1"/>
                  </a:solidFill>
                </a:rPr>
                <a:t> utilizando un umbral de calidad de Q30 y una longitud mínima de 35bp. Se analizaron un total de 5 muestras correspondientes a individuos clasificados en dos perfiles: Obesos 2 1 (n=2) y Obesos 2 (n=3). Las lecturas filtradas fueron alineadas y cuantificadas frente a la secuencia de referencia proporcionada mediante Salmon. </a:t>
              </a:r>
            </a:p>
            <a:p>
              <a:pPr algn="just">
                <a:lnSpc>
                  <a:spcPct val="80000"/>
                </a:lnSpc>
              </a:pPr>
              <a:r>
                <a:rPr lang="es-ES_tradnl" dirty="0">
                  <a:solidFill>
                    <a:schemeClr val="tx1"/>
                  </a:solidFill>
                </a:rPr>
                <a:t>Posteriormente, se realizó un análisis de expresión diferencial con el paquete DESes2 en R. Finalmente, se llevó a cabo un análisis de enriquecimiento funcional basado en el proceso biológico utilizando el paquete </a:t>
              </a:r>
              <a:r>
                <a:rPr lang="es-ES_tradnl" dirty="0" err="1">
                  <a:solidFill>
                    <a:schemeClr val="tx1"/>
                  </a:solidFill>
                </a:rPr>
                <a:t>clusterProfiler</a:t>
              </a:r>
              <a:r>
                <a:rPr lang="es-ES_tradnl" dirty="0">
                  <a:solidFill>
                    <a:schemeClr val="tx1"/>
                  </a:solidFill>
                </a:rPr>
                <a:t> en R que utiliza la base de datos Gene </a:t>
              </a:r>
              <a:r>
                <a:rPr lang="es-ES_tradnl" dirty="0" err="1">
                  <a:solidFill>
                    <a:schemeClr val="tx1"/>
                  </a:solidFill>
                </a:rPr>
                <a:t>Ontology</a:t>
              </a:r>
              <a:r>
                <a:rPr lang="es-ES_tradnl" dirty="0">
                  <a:solidFill>
                    <a:schemeClr val="tx1"/>
                  </a:solidFill>
                </a:rPr>
                <a:t>.  </a:t>
              </a: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Expresión diferencial de genes relacionados con obesidad</a:t>
            </a:r>
          </a:p>
          <a:p>
            <a:pPr algn="ctr">
              <a:lnSpc>
                <a:spcPct val="80000"/>
              </a:lnSpc>
            </a:pPr>
            <a:r>
              <a:rPr lang="es-ES_tradnl" sz="2800" b="1" i="1" dirty="0">
                <a:solidFill>
                  <a:schemeClr val="bg1"/>
                </a:solidFill>
              </a:rPr>
              <a:t>Secuenciación y </a:t>
            </a:r>
            <a:r>
              <a:rPr lang="es-ES_tradnl" sz="2800" b="1" i="1" dirty="0" err="1">
                <a:solidFill>
                  <a:schemeClr val="bg1"/>
                </a:solidFill>
              </a:rPr>
              <a:t>Ómicas</a:t>
            </a:r>
            <a:r>
              <a:rPr lang="es-ES_tradnl" sz="2800" b="1" i="1" dirty="0">
                <a:solidFill>
                  <a:schemeClr val="bg1"/>
                </a:solidFill>
              </a:rPr>
              <a:t> de Próxima Generación</a:t>
            </a:r>
            <a:endParaRPr lang="es-ES_tradnl" sz="3600" b="1" i="1" dirty="0">
              <a:solidFill>
                <a:schemeClr val="bg1"/>
              </a:solidFill>
            </a:endParaRPr>
          </a:p>
          <a:p>
            <a:pPr algn="ctr">
              <a:lnSpc>
                <a:spcPct val="80000"/>
              </a:lnSpc>
            </a:pPr>
            <a:r>
              <a:rPr lang="es-ES_tradnl" sz="2000" b="1" i="1" dirty="0">
                <a:solidFill>
                  <a:schemeClr val="bg1"/>
                </a:solidFill>
              </a:rPr>
              <a:t>Nombre Apellidos 1, Nombre Apellidos 2, Nombre Apellidos 3…</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8247529" y="8111293"/>
            <a:ext cx="6376214"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lang="es-ES_tradnl" dirty="0" err="1">
                <a:solidFill>
                  <a:prstClr val="black"/>
                </a:solidFill>
                <a:latin typeface="Aptos" panose="02110004020202020204"/>
              </a:rPr>
              <a:t>Dotplot</a:t>
            </a:r>
            <a:r>
              <a:rPr lang="es-ES_tradnl" dirty="0">
                <a:solidFill>
                  <a:prstClr val="black"/>
                </a:solidFill>
                <a:latin typeface="Aptos" panose="02110004020202020204"/>
              </a:rPr>
              <a:t> de procesos biológicos enriquecidos mediante Gene </a:t>
            </a:r>
            <a:r>
              <a:rPr lang="es-ES_tradnl" dirty="0" err="1">
                <a:solidFill>
                  <a:prstClr val="black"/>
                </a:solidFill>
                <a:latin typeface="Aptos" panose="02110004020202020204"/>
              </a:rPr>
              <a:t>Ontology</a:t>
            </a:r>
            <a:r>
              <a:rPr lang="es-ES_tradnl" dirty="0">
                <a:solidFill>
                  <a:prstClr val="black"/>
                </a:solidFill>
                <a:latin typeface="Aptos" panose="02110004020202020204"/>
              </a:rPr>
              <a:t>. </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1" name="Rectángulo redondeado 20">
            <a:extLst>
              <a:ext uri="{FF2B5EF4-FFF2-40B4-BE49-F238E27FC236}">
                <a16:creationId xmlns:a16="http://schemas.microsoft.com/office/drawing/2014/main" id="{E251C2CE-A67D-4963-D4A7-088C4077E136}"/>
              </a:ext>
            </a:extLst>
          </p:cNvPr>
          <p:cNvSpPr/>
          <p:nvPr/>
        </p:nvSpPr>
        <p:spPr>
          <a:xfrm>
            <a:off x="382209" y="8130185"/>
            <a:ext cx="7612477"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a:t>
            </a:r>
            <a:r>
              <a:rPr lang="es-ES_tradnl" b="1" dirty="0">
                <a:solidFill>
                  <a:srgbClr val="4196C9"/>
                </a:solidFill>
                <a:latin typeface="Aptos" panose="02110004020202020204"/>
              </a:rPr>
              <a:t>1</a:t>
            </a: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 </a:t>
            </a:r>
            <a:r>
              <a:rPr lang="es-ES_tradnl" dirty="0" err="1">
                <a:solidFill>
                  <a:prstClr val="black"/>
                </a:solidFill>
                <a:latin typeface="Aptos" panose="02110004020202020204"/>
              </a:rPr>
              <a:t>Volcano</a:t>
            </a:r>
            <a:r>
              <a:rPr lang="es-ES_tradnl" dirty="0">
                <a:solidFill>
                  <a:prstClr val="black"/>
                </a:solidFill>
                <a:latin typeface="Aptos" panose="02110004020202020204"/>
              </a:rPr>
              <a:t> </a:t>
            </a:r>
            <a:r>
              <a:rPr lang="es-ES_tradnl" dirty="0" err="1">
                <a:solidFill>
                  <a:prstClr val="black"/>
                </a:solidFill>
                <a:latin typeface="Aptos" panose="02110004020202020204"/>
              </a:rPr>
              <a:t>plot</a:t>
            </a:r>
            <a:r>
              <a:rPr lang="es-ES_tradnl" dirty="0">
                <a:solidFill>
                  <a:prstClr val="black"/>
                </a:solidFill>
                <a:latin typeface="Aptos" panose="02110004020202020204"/>
              </a:rPr>
              <a:t> de genes diferencialmente expresados entre los perfiles Obesos 1 y Obesos 2 (p&lt;0.001).</a:t>
            </a:r>
            <a:endParaRPr kumimoji="0" lang="es-ES_tradnl" sz="1800" b="0" i="0" u="none" strike="noStrike" kern="1200" cap="none" spc="0" normalizeH="0" noProof="0" dirty="0">
              <a:ln>
                <a:noFill/>
              </a:ln>
              <a:solidFill>
                <a:prstClr val="black"/>
              </a:solidFill>
              <a:effectLst/>
              <a:uLnTx/>
              <a:uFillTx/>
              <a:latin typeface="Aptos" panose="02110004020202020204"/>
              <a:ea typeface="+mn-ea"/>
              <a:cs typeface="+mn-cs"/>
            </a:endParaRPr>
          </a:p>
        </p:txBody>
      </p:sp>
      <p:sp>
        <p:nvSpPr>
          <p:cNvPr id="31" name="Rectángulo redondeado 30">
            <a:extLst>
              <a:ext uri="{FF2B5EF4-FFF2-40B4-BE49-F238E27FC236}">
                <a16:creationId xmlns:a16="http://schemas.microsoft.com/office/drawing/2014/main" id="{D2BD3878-9DB9-4128-D685-8AE480F42B4B}"/>
              </a:ext>
            </a:extLst>
          </p:cNvPr>
          <p:cNvSpPr/>
          <p:nvPr/>
        </p:nvSpPr>
        <p:spPr>
          <a:xfrm>
            <a:off x="518257" y="12322763"/>
            <a:ext cx="692632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lang="es-ES_tradnl" dirty="0" err="1">
                <a:solidFill>
                  <a:prstClr val="black"/>
                </a:solidFill>
                <a:latin typeface="Aptos" panose="02110004020202020204"/>
              </a:rPr>
              <a:t>Heatmap</a:t>
            </a:r>
            <a:r>
              <a:rPr lang="es-ES_tradnl" dirty="0">
                <a:solidFill>
                  <a:prstClr val="black"/>
                </a:solidFill>
                <a:latin typeface="Aptos" panose="02110004020202020204"/>
              </a:rPr>
              <a:t> de los 10 genes diferencialmente expresados más significativos entre ambos perfiles. </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42" name="Imagen 41" descr="Gráfico, Gráfico de dispersión&#10;&#10;Descripción generada automáticamente">
            <a:extLst>
              <a:ext uri="{FF2B5EF4-FFF2-40B4-BE49-F238E27FC236}">
                <a16:creationId xmlns:a16="http://schemas.microsoft.com/office/drawing/2014/main" id="{FF4A8073-AF85-0707-DA07-13B9E8AFD23C}"/>
              </a:ext>
            </a:extLst>
          </p:cNvPr>
          <p:cNvPicPr>
            <a:picLocks noChangeAspect="1"/>
          </p:cNvPicPr>
          <p:nvPr/>
        </p:nvPicPr>
        <p:blipFill>
          <a:blip r:embed="rId4"/>
          <a:stretch>
            <a:fillRect/>
          </a:stretch>
        </p:blipFill>
        <p:spPr>
          <a:xfrm>
            <a:off x="518257" y="8938161"/>
            <a:ext cx="6900975" cy="3200513"/>
          </a:xfrm>
          <a:prstGeom prst="rect">
            <a:avLst/>
          </a:prstGeom>
        </p:spPr>
      </p:pic>
      <p:pic>
        <p:nvPicPr>
          <p:cNvPr id="48" name="Imagen 47" descr="Gráfico&#10;&#10;Descripción generada automáticamente con confianza baja">
            <a:extLst>
              <a:ext uri="{FF2B5EF4-FFF2-40B4-BE49-F238E27FC236}">
                <a16:creationId xmlns:a16="http://schemas.microsoft.com/office/drawing/2014/main" id="{5296CE5C-FC39-F3E4-FD6D-4C0F076FB0E5}"/>
              </a:ext>
            </a:extLst>
          </p:cNvPr>
          <p:cNvPicPr>
            <a:picLocks noChangeAspect="1"/>
          </p:cNvPicPr>
          <p:nvPr/>
        </p:nvPicPr>
        <p:blipFill>
          <a:blip r:embed="rId5"/>
          <a:srcRect l="12636" t="9713" r="14379" b="9847"/>
          <a:stretch/>
        </p:blipFill>
        <p:spPr>
          <a:xfrm>
            <a:off x="1021004" y="13026393"/>
            <a:ext cx="5895480" cy="4012157"/>
          </a:xfrm>
          <a:prstGeom prst="rect">
            <a:avLst/>
          </a:prstGeom>
        </p:spPr>
      </p:pic>
      <p:pic>
        <p:nvPicPr>
          <p:cNvPr id="49" name="Imagen 48" descr="Gráfico, Gráfico de dispersión&#10;&#10;Descripción generada automáticamente">
            <a:extLst>
              <a:ext uri="{FF2B5EF4-FFF2-40B4-BE49-F238E27FC236}">
                <a16:creationId xmlns:a16="http://schemas.microsoft.com/office/drawing/2014/main" id="{8FF283C5-9206-B9A6-A959-E7798389E0BE}"/>
              </a:ext>
            </a:extLst>
          </p:cNvPr>
          <p:cNvPicPr>
            <a:picLocks noChangeAspect="1"/>
          </p:cNvPicPr>
          <p:nvPr/>
        </p:nvPicPr>
        <p:blipFill>
          <a:blip r:embed="rId6"/>
          <a:stretch>
            <a:fillRect/>
          </a:stretch>
        </p:blipFill>
        <p:spPr>
          <a:xfrm>
            <a:off x="7994686" y="8947320"/>
            <a:ext cx="6457488" cy="7406826"/>
          </a:xfrm>
          <a:prstGeom prst="rect">
            <a:avLst/>
          </a:prstGeom>
        </p:spPr>
      </p:pic>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2.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3.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173</TotalTime>
  <Words>1091</Words>
  <Application>Microsoft Macintosh PowerPoint</Application>
  <PresentationFormat>Personalizado</PresentationFormat>
  <Paragraphs>58</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Aptos</vt:lpstr>
      <vt:lpstr>Aptos Display</vt:lpstr>
      <vt:lpstr>Arial</vt:lpstr>
      <vt:lpstr>Wingdings</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SARA DEL PINO MARTINEZ</cp:lastModifiedBy>
  <cp:revision>17</cp:revision>
  <dcterms:created xsi:type="dcterms:W3CDTF">2025-04-21T10:03:24Z</dcterms:created>
  <dcterms:modified xsi:type="dcterms:W3CDTF">2026-05-21T12:08:53Z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